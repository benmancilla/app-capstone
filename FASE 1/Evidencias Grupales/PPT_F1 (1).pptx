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5143500" cx="9144000"/>
  <p:notesSz cx="6858000" cy="9144000"/>
  <p:embeddedFontLst>
    <p:embeddedFont>
      <p:font typeface="Roboto Mon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8E4C1AC-C053-47EA-92F0-BB3EA72C6FA0}">
  <a:tblStyle styleId="{A8E4C1AC-C053-47EA-92F0-BB3EA72C6FA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07E67ABB-AAE6-41AE-874E-789B6FB778EF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Mono-regular.fntdata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RobotoMono-italic.fntdata"/><Relationship Id="rId10" Type="http://schemas.openxmlformats.org/officeDocument/2006/relationships/slide" Target="slides/slide4.xml"/><Relationship Id="rId32" Type="http://schemas.openxmlformats.org/officeDocument/2006/relationships/font" Target="fonts/RobotoMono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RobotoMono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9b2361a8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9b2361a8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9b2361a8c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9b2361a8c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f9b2361a8c_0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f9b2361a8c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9b2361a8c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f9b2361a8c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9b2361a8c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f9b2361a8c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9b2361a8c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9b2361a8c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9b2361a8c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f9b2361a8c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f9b2361a8c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f9b2361a8c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9b2361a8c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f9b2361a8c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9b2361a8c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f9b2361a8c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f9b2361a8c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f9b2361a8c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f9b2361a8c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f9b2361a8c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9b2361a8c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f9b2361a8c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f9b2361a8c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f9b2361a8c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9b2361a8c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f9b2361a8c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9b2361a8c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f9b2361a8c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9b2361a8c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f9b2361a8c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9b2361a8c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f9b2361a8c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9b2361a8c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f9b2361a8c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f9b2361a8c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f9b2361a8c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9b2361a8c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f9b2361a8c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9b2361a8c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f9b2361a8c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f9b2361a8c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f9b2361a8c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8.png"/><Relationship Id="rId6" Type="http://schemas.openxmlformats.org/officeDocument/2006/relationships/image" Target="../media/image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 Mono"/>
                <a:ea typeface="Roboto Mono"/>
                <a:cs typeface="Roboto Mono"/>
                <a:sym typeface="Roboto Mono"/>
              </a:rPr>
              <a:t>Proyecto Capstone</a:t>
            </a:r>
            <a:endParaRPr b="1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100">
                <a:latin typeface="Roboto Mono"/>
                <a:ea typeface="Roboto Mono"/>
                <a:cs typeface="Roboto Mono"/>
                <a:sym typeface="Roboto Mono"/>
              </a:rPr>
              <a:t>Nombre: Benjamín Mancilla Vignes</a:t>
            </a:r>
            <a:endParaRPr i="1" sz="21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 Mono"/>
                <a:ea typeface="Roboto Mono"/>
                <a:cs typeface="Roboto Mono"/>
                <a:sym typeface="Roboto Mono"/>
              </a:rPr>
              <a:t>De qué trata?</a:t>
            </a:r>
            <a:endParaRPr b="1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latin typeface="Roboto Mono"/>
                <a:ea typeface="Roboto Mono"/>
                <a:cs typeface="Roboto Mono"/>
                <a:sym typeface="Roboto Mono"/>
              </a:rPr>
              <a:t>Descripción</a:t>
            </a:r>
            <a:r>
              <a:rPr i="1" lang="en" sz="2000">
                <a:latin typeface="Roboto Mono"/>
                <a:ea typeface="Roboto Mono"/>
                <a:cs typeface="Roboto Mono"/>
                <a:sym typeface="Roboto Mono"/>
              </a:rPr>
              <a:t> y Relación</a:t>
            </a:r>
            <a:endParaRPr i="1" sz="20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4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b="1" lang="en" sz="2118">
                <a:latin typeface="Roboto Mono"/>
                <a:ea typeface="Roboto Mono"/>
                <a:cs typeface="Roboto Mono"/>
                <a:sym typeface="Roboto Mono"/>
              </a:rPr>
              <a:t>Descripción</a:t>
            </a:r>
            <a:r>
              <a:rPr b="1" lang="en" sz="2118">
                <a:latin typeface="Roboto Mono"/>
                <a:ea typeface="Roboto Mono"/>
                <a:cs typeface="Roboto Mono"/>
                <a:sym typeface="Roboto Mono"/>
              </a:rPr>
              <a:t> breve</a:t>
            </a:r>
            <a:endParaRPr b="1" sz="2118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24400"/>
            <a:ext cx="8520600" cy="34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El proyecto o la app es en sí escalable, pero la idea en simples palabras es una herramienta de procesamiento de guías que utilice la cámara de un celular o procesamiento de imágenes para escanear la información y generar automáticamente reportes en formato Excel. Permitiendo  facilitar y agilizar el ingreso y procesamiento de información contenida en guías de despacho y facturas</a:t>
            </a:r>
            <a:endParaRPr sz="2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82400" y="2918800"/>
            <a:ext cx="1649900" cy="164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120">
                <a:latin typeface="Roboto Mono"/>
                <a:ea typeface="Roboto Mono"/>
                <a:cs typeface="Roboto Mono"/>
                <a:sym typeface="Roboto Mono"/>
              </a:rPr>
              <a:t>Objetivo general</a:t>
            </a:r>
            <a:endParaRPr b="1" sz="212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500">
                <a:latin typeface="Roboto Mono"/>
                <a:ea typeface="Roboto Mono"/>
                <a:cs typeface="Roboto Mono"/>
                <a:sym typeface="Roboto Mono"/>
              </a:rPr>
              <a:t>Desarrollar una aplicación que permita facilitar y agilizar el ingreso y procesamiento de información contenida en guías de despacho y facturas, mediante la </a:t>
            </a:r>
            <a:r>
              <a:rPr b="1" lang="en" sz="1500">
                <a:latin typeface="Roboto Mono"/>
                <a:ea typeface="Roboto Mono"/>
                <a:cs typeface="Roboto Mono"/>
                <a:sym typeface="Roboto Mono"/>
              </a:rPr>
              <a:t>automatización de la captura</a:t>
            </a:r>
            <a:r>
              <a:rPr lang="en" sz="150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1" lang="en" sz="1500">
                <a:latin typeface="Roboto Mono"/>
                <a:ea typeface="Roboto Mono"/>
                <a:cs typeface="Roboto Mono"/>
                <a:sym typeface="Roboto Mono"/>
              </a:rPr>
              <a:t>organización y generación de reportes</a:t>
            </a:r>
            <a:r>
              <a:rPr lang="en" sz="15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endParaRPr sz="15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120">
                <a:latin typeface="Roboto Mono"/>
                <a:ea typeface="Roboto Mono"/>
                <a:cs typeface="Roboto Mono"/>
                <a:sym typeface="Roboto Mono"/>
              </a:rPr>
              <a:t>Objetivos específicos</a:t>
            </a:r>
            <a:endParaRPr b="1" sz="212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0038" lvl="0" marL="457200" rtl="0" algn="l">
              <a:spcBef>
                <a:spcPts val="0"/>
              </a:spcBef>
              <a:spcAft>
                <a:spcPts val="0"/>
              </a:spcAft>
              <a:buSzPts val="1125"/>
              <a:buFont typeface="Roboto Mono"/>
              <a:buAutoNum type="arabicPeriod"/>
            </a:pPr>
            <a:r>
              <a:rPr b="1" lang="en" sz="1125">
                <a:latin typeface="Roboto Mono"/>
                <a:ea typeface="Roboto Mono"/>
                <a:cs typeface="Roboto Mono"/>
                <a:sym typeface="Roboto Mono"/>
              </a:rPr>
              <a:t>Analizar</a:t>
            </a:r>
            <a:r>
              <a:rPr lang="en" sz="1125">
                <a:latin typeface="Roboto Mono"/>
                <a:ea typeface="Roboto Mono"/>
                <a:cs typeface="Roboto Mono"/>
                <a:sym typeface="Roboto Mono"/>
              </a:rPr>
              <a:t> el proceso actual de ingreso y procesamiento de guías de despacho y facturas, identificando las principales dificultades y oportunidades de automatización.</a:t>
            </a:r>
            <a:endParaRPr sz="1125">
              <a:latin typeface="Roboto Mono"/>
              <a:ea typeface="Roboto Mono"/>
              <a:cs typeface="Roboto Mono"/>
              <a:sym typeface="Roboto Mono"/>
            </a:endParaRPr>
          </a:p>
          <a:p>
            <a:pPr indent="-300038" lvl="0" marL="457200" rtl="0" algn="l">
              <a:spcBef>
                <a:spcPts val="1000"/>
              </a:spcBef>
              <a:spcAft>
                <a:spcPts val="0"/>
              </a:spcAft>
              <a:buSzPts val="1125"/>
              <a:buFont typeface="Roboto Mono"/>
              <a:buAutoNum type="arabicPeriod"/>
            </a:pPr>
            <a:r>
              <a:rPr b="1" lang="en" sz="1125">
                <a:latin typeface="Roboto Mono"/>
                <a:ea typeface="Roboto Mono"/>
                <a:cs typeface="Roboto Mono"/>
                <a:sym typeface="Roboto Mono"/>
              </a:rPr>
              <a:t>Diseñar</a:t>
            </a:r>
            <a:r>
              <a:rPr lang="en" sz="1125">
                <a:latin typeface="Roboto Mono"/>
                <a:ea typeface="Roboto Mono"/>
                <a:cs typeface="Roboto Mono"/>
                <a:sym typeface="Roboto Mono"/>
              </a:rPr>
              <a:t> una aplicación que permita capturar y procesar la información contenida en guías de despacho y facturas de manera rápida y sencilla.</a:t>
            </a:r>
            <a:endParaRPr sz="1125">
              <a:latin typeface="Roboto Mono"/>
              <a:ea typeface="Roboto Mono"/>
              <a:cs typeface="Roboto Mono"/>
              <a:sym typeface="Roboto Mono"/>
            </a:endParaRPr>
          </a:p>
          <a:p>
            <a:pPr indent="-300038" lvl="0" marL="457200" rtl="0" algn="l">
              <a:spcBef>
                <a:spcPts val="1000"/>
              </a:spcBef>
              <a:spcAft>
                <a:spcPts val="0"/>
              </a:spcAft>
              <a:buSzPts val="1125"/>
              <a:buFont typeface="Roboto Mono"/>
              <a:buAutoNum type="arabicPeriod"/>
            </a:pPr>
            <a:r>
              <a:rPr b="1" lang="en" sz="1125">
                <a:latin typeface="Roboto Mono"/>
                <a:ea typeface="Roboto Mono"/>
                <a:cs typeface="Roboto Mono"/>
                <a:sym typeface="Roboto Mono"/>
              </a:rPr>
              <a:t>Implementar</a:t>
            </a:r>
            <a:r>
              <a:rPr lang="en" sz="1125">
                <a:latin typeface="Roboto Mono"/>
                <a:ea typeface="Roboto Mono"/>
                <a:cs typeface="Roboto Mono"/>
                <a:sym typeface="Roboto Mono"/>
              </a:rPr>
              <a:t> funcionalidades de procesamiento de imágenes y reconocimiento de texto para extraer automáticamente la información relevante de los documentos.</a:t>
            </a:r>
            <a:endParaRPr sz="1125">
              <a:latin typeface="Roboto Mono"/>
              <a:ea typeface="Roboto Mono"/>
              <a:cs typeface="Roboto Mono"/>
              <a:sym typeface="Roboto Mono"/>
            </a:endParaRPr>
          </a:p>
          <a:p>
            <a:pPr indent="-300038" lvl="0" marL="457200" rtl="0" algn="l">
              <a:spcBef>
                <a:spcPts val="1000"/>
              </a:spcBef>
              <a:spcAft>
                <a:spcPts val="0"/>
              </a:spcAft>
              <a:buSzPts val="1125"/>
              <a:buFont typeface="Roboto Mono"/>
              <a:buAutoNum type="arabicPeriod"/>
            </a:pPr>
            <a:r>
              <a:rPr b="1" lang="en" sz="1125">
                <a:latin typeface="Roboto Mono"/>
                <a:ea typeface="Roboto Mono"/>
                <a:cs typeface="Roboto Mono"/>
                <a:sym typeface="Roboto Mono"/>
              </a:rPr>
              <a:t>Desarrollar</a:t>
            </a:r>
            <a:r>
              <a:rPr lang="en" sz="1125">
                <a:latin typeface="Roboto Mono"/>
                <a:ea typeface="Roboto Mono"/>
                <a:cs typeface="Roboto Mono"/>
                <a:sym typeface="Roboto Mono"/>
              </a:rPr>
              <a:t> un sistema de almacenamiento y organización de los datos obtenidos, permitiendo su posterior consulta y gestión.</a:t>
            </a:r>
            <a:endParaRPr sz="1125">
              <a:latin typeface="Roboto Mono"/>
              <a:ea typeface="Roboto Mono"/>
              <a:cs typeface="Roboto Mono"/>
              <a:sym typeface="Roboto Mono"/>
            </a:endParaRPr>
          </a:p>
          <a:p>
            <a:pPr indent="-300038" lvl="0" marL="457200" rtl="0" algn="l">
              <a:spcBef>
                <a:spcPts val="1000"/>
              </a:spcBef>
              <a:spcAft>
                <a:spcPts val="0"/>
              </a:spcAft>
              <a:buSzPts val="1125"/>
              <a:buFont typeface="Roboto Mono"/>
              <a:buAutoNum type="arabicPeriod"/>
            </a:pPr>
            <a:r>
              <a:rPr b="1" lang="en" sz="1125">
                <a:latin typeface="Roboto Mono"/>
                <a:ea typeface="Roboto Mono"/>
                <a:cs typeface="Roboto Mono"/>
                <a:sym typeface="Roboto Mono"/>
              </a:rPr>
              <a:t>Generar</a:t>
            </a:r>
            <a:r>
              <a:rPr lang="en" sz="1125">
                <a:latin typeface="Roboto Mono"/>
                <a:ea typeface="Roboto Mono"/>
                <a:cs typeface="Roboto Mono"/>
                <a:sym typeface="Roboto Mono"/>
              </a:rPr>
              <a:t> reportes en formato Excel a partir de la información procesada por la aplicación.</a:t>
            </a:r>
            <a:endParaRPr sz="1125">
              <a:latin typeface="Roboto Mono"/>
              <a:ea typeface="Roboto Mono"/>
              <a:cs typeface="Roboto Mono"/>
              <a:sym typeface="Roboto Mono"/>
            </a:endParaRPr>
          </a:p>
          <a:p>
            <a:pPr indent="-300038" lvl="0" marL="457200" rtl="0" algn="l">
              <a:spcBef>
                <a:spcPts val="1000"/>
              </a:spcBef>
              <a:spcAft>
                <a:spcPts val="0"/>
              </a:spcAft>
              <a:buSzPts val="1125"/>
              <a:buFont typeface="Roboto Mono"/>
              <a:buAutoNum type="arabicPeriod"/>
            </a:pPr>
            <a:r>
              <a:rPr b="1" lang="en" sz="1125">
                <a:latin typeface="Roboto Mono"/>
                <a:ea typeface="Roboto Mono"/>
                <a:cs typeface="Roboto Mono"/>
                <a:sym typeface="Roboto Mono"/>
              </a:rPr>
              <a:t>Realizar</a:t>
            </a:r>
            <a:r>
              <a:rPr lang="en" sz="1125">
                <a:latin typeface="Roboto Mono"/>
                <a:ea typeface="Roboto Mono"/>
                <a:cs typeface="Roboto Mono"/>
                <a:sym typeface="Roboto Mono"/>
              </a:rPr>
              <a:t> pruebas del sistema para evaluar su funcionamiento, facilidad de uso y reducción del tiempo requerido para el ingreso manual de información.. </a:t>
            </a:r>
            <a:endParaRPr sz="1125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SzPts val="688"/>
              <a:buNone/>
            </a:pPr>
            <a:r>
              <a:t/>
            </a:r>
            <a:endParaRPr sz="1125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4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b="1" lang="en" sz="2118">
                <a:latin typeface="Roboto Mono"/>
                <a:ea typeface="Roboto Mono"/>
                <a:cs typeface="Roboto Mono"/>
                <a:sym typeface="Roboto Mono"/>
              </a:rPr>
              <a:t>Relación</a:t>
            </a:r>
            <a:r>
              <a:rPr b="1" lang="en" sz="2118">
                <a:latin typeface="Roboto Mono"/>
                <a:ea typeface="Roboto Mono"/>
                <a:cs typeface="Roboto Mono"/>
                <a:sym typeface="Roboto Mono"/>
              </a:rPr>
              <a:t> con las competencias del perfil de egreso</a:t>
            </a:r>
            <a:endParaRPr b="1" sz="2118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24400"/>
            <a:ext cx="8520600" cy="34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Se hará uso de varias de las herramientas que aprendí en esta carrera, principalmente:</a:t>
            </a:r>
            <a:endParaRPr sz="1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  <a:highlight>
                  <a:srgbClr val="D9EAD3"/>
                </a:highlight>
                <a:latin typeface="Roboto Mono"/>
                <a:ea typeface="Roboto Mono"/>
                <a:cs typeface="Roboto Mono"/>
                <a:sym typeface="Roboto Mono"/>
              </a:rPr>
              <a:t>Desarrollo de aplicaciones móviles y de escritorio</a:t>
            </a:r>
            <a:r>
              <a:rPr lang="en" sz="1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endParaRPr sz="1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  <a:highlight>
                  <a:srgbClr val="D9D2E9"/>
                </a:highlight>
                <a:latin typeface="Roboto Mono"/>
                <a:ea typeface="Roboto Mono"/>
                <a:cs typeface="Roboto Mono"/>
                <a:sym typeface="Roboto Mono"/>
              </a:rPr>
              <a:t>Creación y manejo de base de datos</a:t>
            </a:r>
            <a:r>
              <a:rPr lang="en" sz="1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endParaRPr sz="1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500"/>
              <a:buFont typeface="Roboto Mono"/>
              <a:buChar char="●"/>
            </a:pPr>
            <a:r>
              <a:rPr lang="en" sz="1400">
                <a:solidFill>
                  <a:schemeClr val="dk1"/>
                </a:solidFill>
                <a:highlight>
                  <a:srgbClr val="FFF2CC"/>
                </a:highlight>
                <a:latin typeface="Roboto Mono"/>
                <a:ea typeface="Roboto Mono"/>
                <a:cs typeface="Roboto Mono"/>
                <a:sym typeface="Roboto Mono"/>
              </a:rPr>
              <a:t>Machine learning</a:t>
            </a:r>
            <a:r>
              <a:rPr lang="en" sz="1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endParaRPr sz="1500"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87" name="Google Shape;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5125" y="2861525"/>
            <a:ext cx="1707174" cy="1707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4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b="1" lang="en" sz="2118">
                <a:latin typeface="Roboto Mono"/>
                <a:ea typeface="Roboto Mono"/>
                <a:cs typeface="Roboto Mono"/>
                <a:sym typeface="Roboto Mono"/>
              </a:rPr>
              <a:t>Relación con</a:t>
            </a:r>
            <a:r>
              <a:rPr b="1" lang="en" sz="2118">
                <a:latin typeface="Roboto Mono"/>
                <a:ea typeface="Roboto Mono"/>
                <a:cs typeface="Roboto Mono"/>
                <a:sym typeface="Roboto Mono"/>
              </a:rPr>
              <a:t> mis intereses profesionales</a:t>
            </a:r>
            <a:endParaRPr b="1" sz="2118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24400"/>
            <a:ext cx="8520600" cy="34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Mis intereses profesionales se centran principalmente en:</a:t>
            </a:r>
            <a:endParaRPr sz="1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●"/>
            </a:pPr>
            <a:r>
              <a:rPr lang="en" sz="1400">
                <a:solidFill>
                  <a:schemeClr val="dk1"/>
                </a:solidFill>
                <a:highlight>
                  <a:srgbClr val="EAD1DC"/>
                </a:highlight>
                <a:latin typeface="Roboto Mono"/>
                <a:ea typeface="Roboto Mono"/>
                <a:cs typeface="Roboto Mono"/>
                <a:sym typeface="Roboto Mono"/>
              </a:rPr>
              <a:t>la automatización</a:t>
            </a:r>
            <a:endParaRPr sz="1400">
              <a:solidFill>
                <a:schemeClr val="dk1"/>
              </a:solidFill>
              <a:highlight>
                <a:srgbClr val="EAD1DC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●"/>
            </a:pPr>
            <a:r>
              <a:rPr lang="en" sz="1400">
                <a:solidFill>
                  <a:schemeClr val="dk1"/>
                </a:solidFill>
                <a:highlight>
                  <a:srgbClr val="CFE2F3"/>
                </a:highlight>
                <a:latin typeface="Roboto Mono"/>
                <a:ea typeface="Roboto Mono"/>
                <a:cs typeface="Roboto Mono"/>
                <a:sym typeface="Roboto Mono"/>
              </a:rPr>
              <a:t>La </a:t>
            </a:r>
            <a:r>
              <a:rPr lang="en" sz="1400">
                <a:solidFill>
                  <a:schemeClr val="dk1"/>
                </a:solidFill>
                <a:highlight>
                  <a:srgbClr val="CFE2F3"/>
                </a:highlight>
                <a:latin typeface="Roboto Mono"/>
                <a:ea typeface="Roboto Mono"/>
                <a:cs typeface="Roboto Mono"/>
                <a:sym typeface="Roboto Mono"/>
              </a:rPr>
              <a:t>simplificación</a:t>
            </a:r>
            <a:endParaRPr sz="1400">
              <a:solidFill>
                <a:schemeClr val="dk1"/>
              </a:solidFill>
              <a:highlight>
                <a:srgbClr val="CFE2F3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…de procesos </a:t>
            </a:r>
            <a:r>
              <a:rPr b="1" lang="en" sz="1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contables</a:t>
            </a:r>
            <a:r>
              <a:rPr lang="en" sz="1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y </a:t>
            </a:r>
            <a:r>
              <a:rPr b="1" lang="en" sz="1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administrativos</a:t>
            </a:r>
            <a:r>
              <a:rPr lang="en" sz="1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de empresas.</a:t>
            </a:r>
            <a:endParaRPr sz="1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94" name="Google Shape;9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34475" y="3070875"/>
            <a:ext cx="1497825" cy="149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 Mono"/>
                <a:ea typeface="Roboto Mono"/>
                <a:cs typeface="Roboto Mono"/>
                <a:sym typeface="Roboto Mono"/>
              </a:rPr>
              <a:t>Qué</a:t>
            </a:r>
            <a:r>
              <a:rPr b="1" lang="en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>
                <a:latin typeface="Roboto Mono"/>
                <a:ea typeface="Roboto Mono"/>
                <a:cs typeface="Roboto Mono"/>
                <a:sym typeface="Roboto Mono"/>
              </a:rPr>
              <a:t>metodología</a:t>
            </a:r>
            <a:r>
              <a:rPr b="1" lang="en">
                <a:latin typeface="Roboto Mono"/>
                <a:ea typeface="Roboto Mono"/>
                <a:cs typeface="Roboto Mono"/>
                <a:sym typeface="Roboto Mono"/>
              </a:rPr>
              <a:t>?</a:t>
            </a:r>
            <a:endParaRPr b="1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00" name="Google Shape;100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latin typeface="Roboto Mono"/>
                <a:ea typeface="Roboto Mono"/>
                <a:cs typeface="Roboto Mono"/>
                <a:sym typeface="Roboto Mono"/>
              </a:rPr>
              <a:t>Y </a:t>
            </a:r>
            <a:r>
              <a:rPr i="1" lang="en" sz="2000">
                <a:latin typeface="Roboto Mono"/>
                <a:ea typeface="Roboto Mono"/>
                <a:cs typeface="Roboto Mono"/>
                <a:sym typeface="Roboto Mono"/>
              </a:rPr>
              <a:t>por qué</a:t>
            </a:r>
            <a:r>
              <a:rPr i="1" lang="en" sz="2000">
                <a:latin typeface="Roboto Mono"/>
                <a:ea typeface="Roboto Mono"/>
                <a:cs typeface="Roboto Mono"/>
                <a:sym typeface="Roboto Mono"/>
              </a:rPr>
              <a:t>? </a:t>
            </a:r>
            <a:endParaRPr i="1" sz="20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  <p:transition spd="med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120">
                <a:latin typeface="Roboto Mono"/>
                <a:ea typeface="Roboto Mono"/>
                <a:cs typeface="Roboto Mono"/>
                <a:sym typeface="Roboto Mono"/>
              </a:rPr>
              <a:t>Por </a:t>
            </a:r>
            <a:r>
              <a:rPr b="1" lang="en" sz="2120">
                <a:latin typeface="Roboto Mono"/>
                <a:ea typeface="Roboto Mono"/>
                <a:cs typeface="Roboto Mono"/>
                <a:sym typeface="Roboto Mono"/>
              </a:rPr>
              <a:t>qué</a:t>
            </a:r>
            <a:r>
              <a:rPr b="1" lang="en" sz="2120">
                <a:latin typeface="Roboto Mono"/>
                <a:ea typeface="Roboto Mono"/>
                <a:cs typeface="Roboto Mono"/>
                <a:sym typeface="Roboto Mono"/>
              </a:rPr>
              <a:t> usaré </a:t>
            </a:r>
            <a:r>
              <a:rPr b="1" lang="en" sz="2120">
                <a:latin typeface="Roboto Mono"/>
                <a:ea typeface="Roboto Mono"/>
                <a:cs typeface="Roboto Mono"/>
                <a:sym typeface="Roboto Mono"/>
              </a:rPr>
              <a:t>metodología</a:t>
            </a:r>
            <a:r>
              <a:rPr b="1" lang="en" sz="212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2120">
                <a:latin typeface="Roboto Mono"/>
                <a:ea typeface="Roboto Mono"/>
                <a:cs typeface="Roboto Mono"/>
                <a:sym typeface="Roboto Mono"/>
              </a:rPr>
              <a:t>Ágil?</a:t>
            </a:r>
            <a:endParaRPr b="1" sz="212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06" name="Google Shape;106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Este proyecto requiere un proceso de desarrollo </a:t>
            </a:r>
            <a:r>
              <a:rPr b="1" lang="en" sz="14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flexible e iterativo</a:t>
            </a:r>
            <a:r>
              <a:rPr lang="en" sz="14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. Esta metodología me permitirá avanzar progresivamente desde un prototipo inicial hasta una versión funcional de la aplicación, </a:t>
            </a:r>
            <a:r>
              <a:rPr b="1" lang="en" sz="14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realizando pruebas y ajustes durante cada etapa</a:t>
            </a:r>
            <a:r>
              <a:rPr lang="en" sz="14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. </a:t>
            </a:r>
            <a:r>
              <a:rPr lang="en" sz="1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endParaRPr sz="1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7" name="Google Shape;10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5650" y="2872225"/>
            <a:ext cx="1696650" cy="169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 Mono"/>
                <a:ea typeface="Roboto Mono"/>
                <a:cs typeface="Roboto Mono"/>
                <a:sym typeface="Roboto Mono"/>
              </a:rPr>
              <a:t>Plan de trabajo</a:t>
            </a:r>
            <a:endParaRPr b="1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13" name="Google Shape;113;p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latin typeface="Roboto Mono"/>
                <a:ea typeface="Roboto Mono"/>
                <a:cs typeface="Roboto Mono"/>
                <a:sym typeface="Roboto Mono"/>
              </a:rPr>
              <a:t>Herramientas, Responsables y Cronograma</a:t>
            </a:r>
            <a:endParaRPr i="1" sz="20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  <p:transition spd="med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8" name="Google Shape;118;p23"/>
          <p:cNvGraphicFramePr/>
          <p:nvPr/>
        </p:nvGraphicFramePr>
        <p:xfrm>
          <a:off x="717775" y="347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{A8E4C1AC-C053-47EA-92F0-BB3EA72C6FA0}</a:tableStyleId>
              </a:tblPr>
              <a:tblGrid>
                <a:gridCol w="1096925"/>
                <a:gridCol w="6611525"/>
              </a:tblGrid>
              <a:tr h="243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950"/>
                        <a:t>Herramienta</a:t>
                      </a:r>
                      <a:endParaRPr i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950"/>
                        <a:t>Uso en el proyecto</a:t>
                      </a:r>
                      <a:endParaRPr i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382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950"/>
                        <a:t>Python</a:t>
                      </a:r>
                      <a:endParaRPr i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50"/>
                        <a:t>Desarrollo de la lógica principal, procesamiento de datos y automatización.</a:t>
                      </a:r>
                      <a:endParaRPr i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950"/>
                        <a:t>Visual Studio Code</a:t>
                      </a:r>
                      <a:endParaRPr i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50"/>
                        <a:t>Entorno gratuito para escribir, ejecutar y depurar el código del proyecto.</a:t>
                      </a:r>
                      <a:endParaRPr i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950"/>
                        <a:t>OpenCV</a:t>
                      </a:r>
                      <a:endParaRPr i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50"/>
                        <a:t>Procesamiento y mejora de las imágenes de guías y facturas antes del reconocimiento de texto.</a:t>
                      </a:r>
                      <a:endParaRPr i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950"/>
                        <a:t>Tesseract OCR</a:t>
                      </a:r>
                      <a:endParaRPr i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50"/>
                        <a:t>Reconocimiento y extracción automática de texto desde las imágenes de los documentos.</a:t>
                      </a:r>
                      <a:endParaRPr i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950"/>
                        <a:t>Pandas</a:t>
                      </a:r>
                      <a:endParaRPr i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50"/>
                        <a:t>Organización y procesamiento de los datos obtenidos desde las guías y facturas.</a:t>
                      </a:r>
                      <a:endParaRPr i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950"/>
                        <a:t>SQLite</a:t>
                      </a:r>
                      <a:endParaRPr i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50"/>
                        <a:t>Almacenamiento local y gratuito de la información extraída de los documentos.</a:t>
                      </a:r>
                      <a:endParaRPr i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950"/>
                        <a:t>OpenPyXL</a:t>
                      </a:r>
                      <a:endParaRPr i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50"/>
                        <a:t>Generación y modificación de archivos Excel a partir de los datos procesados.</a:t>
                      </a:r>
                      <a:endParaRPr i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950"/>
                        <a:t>Flutter</a:t>
                      </a:r>
                      <a:endParaRPr i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50"/>
                        <a:t>Desarrollo gratuito de la aplicación móvil y su interfaz gráfica.</a:t>
                      </a:r>
                      <a:endParaRPr i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950"/>
                        <a:t>Android Studio</a:t>
                      </a:r>
                      <a:endParaRPr i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50"/>
                        <a:t>Desarrollo, ejecución y pruebas de la aplicación en un dispositivo Android.</a:t>
                      </a:r>
                      <a:endParaRPr i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950"/>
                        <a:t>Git y GitHub</a:t>
                      </a:r>
                      <a:endParaRPr i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50"/>
                        <a:t>Control de versiones y respaldo del código fuente del proyecto.</a:t>
                      </a:r>
                      <a:endParaRPr i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950"/>
                        <a:t>Roboflow </a:t>
                      </a:r>
                      <a:endParaRPr b="1" i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50"/>
                        <a:t>Creación, organización, etiquetado y preparación del dataset de imágenes de guías y facturas para entrenar y evaluar modelos de reconocimiento. </a:t>
                      </a:r>
                      <a:endParaRPr i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3" name="Google Shape;123;p24"/>
          <p:cNvGraphicFramePr/>
          <p:nvPr/>
        </p:nvGraphicFramePr>
        <p:xfrm>
          <a:off x="1583350" y="202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{A8E4C1AC-C053-47EA-92F0-BB3EA72C6FA0}</a:tableStyleId>
              </a:tblPr>
              <a:tblGrid>
                <a:gridCol w="2927125"/>
                <a:gridCol w="1460225"/>
                <a:gridCol w="1589950"/>
              </a:tblGrid>
              <a:tr h="3384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/>
                        <a:t>Actividad</a:t>
                      </a:r>
                      <a:endParaRPr b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/>
                        <a:t>Benjamín Mancilla</a:t>
                      </a:r>
                      <a:endParaRPr b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/>
                        <a:t>Docente</a:t>
                      </a:r>
                      <a:endParaRPr b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  <a:tr h="338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/>
                        <a:t>Análisis y levantamiento de requerimientos</a:t>
                      </a:r>
                      <a:endParaRPr b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50"/>
                        <a:t>R/A</a:t>
                      </a:r>
                      <a:endParaRPr i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50"/>
                        <a:t>C</a:t>
                      </a:r>
                      <a:endParaRPr i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8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/>
                        <a:t>Análisis de guías y facturas</a:t>
                      </a:r>
                      <a:endParaRPr b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50"/>
                        <a:t>R/A</a:t>
                      </a:r>
                      <a:endParaRPr i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50"/>
                        <a:t>C</a:t>
                      </a:r>
                      <a:endParaRPr i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8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/>
                        <a:t>Diseño de la solución</a:t>
                      </a:r>
                      <a:endParaRPr b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50"/>
                        <a:t>R/A</a:t>
                      </a:r>
                      <a:endParaRPr i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50"/>
                        <a:t>C</a:t>
                      </a:r>
                      <a:endParaRPr i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8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/>
                        <a:t>Desarrollo del procesamiento de imágenes</a:t>
                      </a:r>
                      <a:endParaRPr b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50"/>
                        <a:t>R/A</a:t>
                      </a:r>
                      <a:endParaRPr i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50"/>
                        <a:t>I</a:t>
                      </a:r>
                      <a:endParaRPr i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8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/>
                        <a:t>Implementación del reconocimiento OCR</a:t>
                      </a:r>
                      <a:endParaRPr b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50"/>
                        <a:t>R/A</a:t>
                      </a:r>
                      <a:endParaRPr i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50"/>
                        <a:t>C</a:t>
                      </a:r>
                      <a:endParaRPr i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8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/>
                        <a:t>Desarrollo de la base de datos</a:t>
                      </a:r>
                      <a:endParaRPr b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50"/>
                        <a:t>R/A</a:t>
                      </a:r>
                      <a:endParaRPr i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50"/>
                        <a:t>I</a:t>
                      </a:r>
                      <a:endParaRPr i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8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/>
                        <a:t>Desarrollo de exportación a Excel</a:t>
                      </a:r>
                      <a:endParaRPr b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50"/>
                        <a:t>R/A</a:t>
                      </a:r>
                      <a:endParaRPr i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50"/>
                        <a:t>I</a:t>
                      </a:r>
                      <a:endParaRPr i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8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/>
                        <a:t>Desarrollo de la aplicación móvil</a:t>
                      </a:r>
                      <a:endParaRPr b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50"/>
                        <a:t>R/A</a:t>
                      </a:r>
                      <a:endParaRPr i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50"/>
                        <a:t>C</a:t>
                      </a:r>
                      <a:endParaRPr i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8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/>
                        <a:t>Integración de los componentes</a:t>
                      </a:r>
                      <a:endParaRPr b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50"/>
                        <a:t>R/A</a:t>
                      </a:r>
                      <a:endParaRPr i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50"/>
                        <a:t>I</a:t>
                      </a:r>
                      <a:endParaRPr i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8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/>
                        <a:t>Pruebas y validación</a:t>
                      </a:r>
                      <a:endParaRPr b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50"/>
                        <a:t>R/A</a:t>
                      </a:r>
                      <a:endParaRPr i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50"/>
                        <a:t>C</a:t>
                      </a:r>
                      <a:endParaRPr i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8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/>
                        <a:t>Corrección de errores y mejoras</a:t>
                      </a:r>
                      <a:endParaRPr b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50"/>
                        <a:t>R/A</a:t>
                      </a:r>
                      <a:endParaRPr i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50"/>
                        <a:t>I</a:t>
                      </a:r>
                      <a:endParaRPr i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8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/>
                        <a:t>Documentación del proyecto</a:t>
                      </a:r>
                      <a:endParaRPr b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50"/>
                        <a:t>R/A</a:t>
                      </a:r>
                      <a:endParaRPr i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50"/>
                        <a:t>C</a:t>
                      </a:r>
                      <a:endParaRPr i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8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/>
                        <a:t>Entrega de la versión final</a:t>
                      </a:r>
                      <a:endParaRPr b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50"/>
                        <a:t>R/A</a:t>
                      </a:r>
                      <a:endParaRPr i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50"/>
                        <a:t>I</a:t>
                      </a:r>
                      <a:endParaRPr i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8" name="Google Shape;128;p25"/>
          <p:cNvGraphicFramePr/>
          <p:nvPr/>
        </p:nvGraphicFramePr>
        <p:xfrm>
          <a:off x="1576388" y="593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{A8E4C1AC-C053-47EA-92F0-BB3EA72C6FA0}</a:tableStyleId>
              </a:tblPr>
              <a:tblGrid>
                <a:gridCol w="790575"/>
                <a:gridCol w="1057275"/>
                <a:gridCol w="2171700"/>
                <a:gridCol w="1247775"/>
                <a:gridCol w="72390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Fase</a:t>
                      </a:r>
                      <a:endParaRPr sz="1000"/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Actividad</a:t>
                      </a:r>
                      <a:endParaRPr sz="1000"/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Descripción</a:t>
                      </a:r>
                      <a:endParaRPr sz="1000"/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Recursos</a:t>
                      </a:r>
                      <a:endParaRPr sz="1000"/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Duración</a:t>
                      </a:r>
                      <a:endParaRPr sz="1000"/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Fase 1</a:t>
                      </a:r>
                      <a:endParaRPr sz="1000"/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Levantamiento de requerimientos</a:t>
                      </a:r>
                      <a:endParaRPr b="1" sz="1000"/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/>
                        <a:t>Analizar el proceso actual e identificar la información relevante de guías de despacho y facturas.</a:t>
                      </a:r>
                      <a:endParaRPr i="1" sz="1000"/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/>
                        <a:t>PC, documentos de ejemplo</a:t>
                      </a:r>
                      <a:endParaRPr i="1" sz="1000"/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Semanas 1–2</a:t>
                      </a:r>
                      <a:endParaRPr b="1" sz="1000"/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Fase 1</a:t>
                      </a:r>
                      <a:endParaRPr sz="1000"/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Recolección de documentos</a:t>
                      </a:r>
                      <a:endParaRPr b="1" sz="1000"/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/>
                        <a:t>Reunir ejemplos de guías y facturas que permitan representar diferentes formatos y condiciones de captura.</a:t>
                      </a:r>
                      <a:endParaRPr i="1" sz="1000"/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/>
                        <a:t>Guías/facturas de ejemplo</a:t>
                      </a:r>
                      <a:endParaRPr i="1" sz="1000"/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Semanas 2–3</a:t>
                      </a:r>
                      <a:endParaRPr b="1" sz="1000"/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Fase 1</a:t>
                      </a:r>
                      <a:endParaRPr sz="1000"/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Creación del dataset</a:t>
                      </a:r>
                      <a:endParaRPr b="1" sz="1000"/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/>
                        <a:t>Organizar y etiquetar imágenes de guías y facturas, identificando campos relevantes para el reconocimiento automático.</a:t>
                      </a:r>
                      <a:endParaRPr i="1" sz="1000"/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/>
                        <a:t>Roboflow, imágenes de documentos</a:t>
                      </a:r>
                      <a:endParaRPr i="1" sz="1000"/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Semanas 3–4</a:t>
                      </a:r>
                      <a:endParaRPr b="1" sz="1000"/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Fase 1</a:t>
                      </a:r>
                      <a:endParaRPr sz="1000"/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Preparación del dataset</a:t>
                      </a:r>
                      <a:endParaRPr b="1" sz="1000"/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/>
                        <a:t>Revisar etiquetas, dividir los datos para entrenamiento y evaluación y preparar las imágenes para su utilización en el sistema.</a:t>
                      </a:r>
                      <a:endParaRPr i="1" sz="1000"/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/>
                        <a:t>Roboflow, Python</a:t>
                      </a:r>
                      <a:endParaRPr i="1" sz="1000"/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Semanas 4–5</a:t>
                      </a:r>
                      <a:endParaRPr b="1" sz="1000"/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Fase 1</a:t>
                      </a:r>
                      <a:endParaRPr sz="1000"/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Desarrollo Prototipo 1</a:t>
                      </a:r>
                      <a:endParaRPr b="1" sz="1000"/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/>
                        <a:t>Implementar procesamiento de imágenes y reconocimiento de texto mediante OCR.</a:t>
                      </a:r>
                      <a:endParaRPr i="1" sz="1000"/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/>
                        <a:t>Python, OpenCV, Tesseract</a:t>
                      </a:r>
                      <a:endParaRPr i="1" sz="1000"/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Semanas 5–7</a:t>
                      </a:r>
                      <a:endParaRPr b="1" sz="1000"/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Fase 1</a:t>
                      </a:r>
                      <a:endParaRPr sz="1000"/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Desarrollo Prototipo 2</a:t>
                      </a:r>
                      <a:endParaRPr b="1" sz="1000"/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/>
                        <a:t>Integrar extracción de información, almacenamiento en SQLite y generación de Excel.</a:t>
                      </a:r>
                      <a:endParaRPr i="1" sz="1000"/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/>
                        <a:t>Python, SQLite, Pandas, OpenPyXL</a:t>
                      </a:r>
                      <a:endParaRPr i="1" sz="1000"/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Semanas 7–9</a:t>
                      </a:r>
                      <a:endParaRPr b="1" sz="1000"/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26"/>
          <p:cNvGraphicFramePr/>
          <p:nvPr/>
        </p:nvGraphicFramePr>
        <p:xfrm>
          <a:off x="1576388" y="178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{A8E4C1AC-C053-47EA-92F0-BB3EA72C6FA0}</a:tableStyleId>
              </a:tblPr>
              <a:tblGrid>
                <a:gridCol w="790575"/>
                <a:gridCol w="1057275"/>
                <a:gridCol w="2171700"/>
                <a:gridCol w="1247775"/>
                <a:gridCol w="72390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Fase</a:t>
                      </a:r>
                      <a:endParaRPr sz="1000"/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Actividad</a:t>
                      </a:r>
                      <a:endParaRPr sz="1000"/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Descripción</a:t>
                      </a:r>
                      <a:endParaRPr sz="1000"/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Recursos</a:t>
                      </a:r>
                      <a:endParaRPr sz="1000"/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Duración</a:t>
                      </a:r>
                      <a:endParaRPr sz="1000"/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Fase 2</a:t>
                      </a:r>
                      <a:endParaRPr sz="1000"/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Diseño de interfaz</a:t>
                      </a:r>
                      <a:endParaRPr b="1" sz="1000"/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/>
                        <a:t>Diseñar la interfaz y flujo de navegación de la aplicación.</a:t>
                      </a:r>
                      <a:endParaRPr i="1" sz="1000"/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/>
                        <a:t>Flutter, Android Studio</a:t>
                      </a:r>
                      <a:endParaRPr i="1" sz="1000"/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Semanas 9–10</a:t>
                      </a:r>
                      <a:endParaRPr b="1" sz="1000"/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Fase 2</a:t>
                      </a:r>
                      <a:endParaRPr sz="1000"/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Desarrollo App Beta</a:t>
                      </a:r>
                      <a:endParaRPr b="1" sz="1000"/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/>
                        <a:t>Integrar la interfaz móvil con las funcionalidades de procesamiento desarrolladas.</a:t>
                      </a:r>
                      <a:endParaRPr i="1" sz="1000"/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/>
                        <a:t>Flutter, Python, Android Studio</a:t>
                      </a:r>
                      <a:endParaRPr i="1" sz="1000"/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Semanas 10–13</a:t>
                      </a:r>
                      <a:endParaRPr b="1" sz="1000"/>
                    </a:p>
                  </a:txBody>
                  <a:tcPr marT="25400" marB="2540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Fase 2</a:t>
                      </a:r>
                      <a:endParaRPr sz="1000"/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Integración de cámara</a:t>
                      </a:r>
                      <a:endParaRPr b="1" sz="1000"/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/>
                        <a:t>Incorporar captura de imágenes mediante la cámara del dispositivo.</a:t>
                      </a:r>
                      <a:endParaRPr i="1" sz="1000"/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/>
                        <a:t>Flutter, Android</a:t>
                      </a:r>
                      <a:endParaRPr i="1" sz="1000"/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Semanas 12–14</a:t>
                      </a:r>
                      <a:endParaRPr b="1" sz="1000"/>
                    </a:p>
                  </a:txBody>
                  <a:tcPr marT="25400" marB="2540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8" name="Google Shape;138;p27"/>
          <p:cNvGraphicFramePr/>
          <p:nvPr/>
        </p:nvGraphicFramePr>
        <p:xfrm>
          <a:off x="1576388" y="161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{A8E4C1AC-C053-47EA-92F0-BB3EA72C6FA0}</a:tableStyleId>
              </a:tblPr>
              <a:tblGrid>
                <a:gridCol w="790575"/>
                <a:gridCol w="1057275"/>
                <a:gridCol w="2171700"/>
                <a:gridCol w="1247775"/>
                <a:gridCol w="72390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Fase</a:t>
                      </a:r>
                      <a:endParaRPr sz="1000"/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Actividad</a:t>
                      </a:r>
                      <a:endParaRPr sz="1000"/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Descripción</a:t>
                      </a:r>
                      <a:endParaRPr sz="1000"/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Recursos</a:t>
                      </a:r>
                      <a:endParaRPr sz="1000"/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Duración</a:t>
                      </a:r>
                      <a:endParaRPr sz="1000"/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Fase 3</a:t>
                      </a:r>
                      <a:endParaRPr sz="1000"/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Pruebas de reconocimiento</a:t>
                      </a:r>
                      <a:endParaRPr b="1" sz="1000"/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/>
                        <a:t>Evaluar la extracción de información utilizando documentos de prueba y analizar errores de reconocimiento.</a:t>
                      </a:r>
                      <a:endParaRPr i="1" sz="1000"/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/>
                        <a:t>Dataset, documentos de prueba, Android</a:t>
                      </a:r>
                      <a:endParaRPr i="1" sz="1000"/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Semanas 14–15</a:t>
                      </a:r>
                      <a:endParaRPr b="1" sz="1000"/>
                    </a:p>
                  </a:txBody>
                  <a:tcPr marT="25400" marB="2540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Fase 3</a:t>
                      </a:r>
                      <a:endParaRPr sz="1000"/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Correcciones y optimización</a:t>
                      </a:r>
                      <a:endParaRPr b="1" sz="1000"/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/>
                        <a:t>Mejorar procesamiento, reconocimiento, interfaz y rendimiento según los resultados obtenidos.</a:t>
                      </a:r>
                      <a:endParaRPr i="1" sz="1000"/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/>
                        <a:t>Python, Flutter, Roboflow</a:t>
                      </a:r>
                      <a:endParaRPr i="1" sz="1000"/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Semanas 15–17</a:t>
                      </a:r>
                      <a:endParaRPr b="1" sz="1000"/>
                    </a:p>
                  </a:txBody>
                  <a:tcPr marT="25400" marB="2540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Fase 3</a:t>
                      </a:r>
                      <a:endParaRPr sz="1000"/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Documentación y entrega</a:t>
                      </a:r>
                      <a:endParaRPr b="1" sz="1000"/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/>
                        <a:t>Documentar el sistema, dataset, resultados de pruebas y versión final.</a:t>
                      </a:r>
                      <a:endParaRPr i="1" sz="1000"/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/>
                        <a:t>PC, documentación</a:t>
                      </a:r>
                      <a:endParaRPr i="1" sz="1000"/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Semanas 17–18</a:t>
                      </a:r>
                      <a:endParaRPr b="1" sz="1000"/>
                    </a:p>
                  </a:txBody>
                  <a:tcPr marT="25400" marB="2540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 Mono"/>
                <a:ea typeface="Roboto Mono"/>
                <a:cs typeface="Roboto Mono"/>
                <a:sym typeface="Roboto Mono"/>
              </a:rPr>
              <a:t>Requisitos</a:t>
            </a:r>
            <a:endParaRPr b="1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44" name="Google Shape;144;p2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latin typeface="Roboto Mono"/>
                <a:ea typeface="Roboto Mono"/>
                <a:cs typeface="Roboto Mono"/>
                <a:sym typeface="Roboto Mono"/>
              </a:rPr>
              <a:t>Funcionales y No Funcionales (Preliminares)</a:t>
            </a:r>
            <a:endParaRPr i="1" sz="20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  <p:transition spd="med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9" name="Google Shape;149;p29"/>
          <p:cNvGraphicFramePr/>
          <p:nvPr/>
        </p:nvGraphicFramePr>
        <p:xfrm>
          <a:off x="1143475" y="238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{A8E4C1AC-C053-47EA-92F0-BB3EA72C6FA0}</a:tableStyleId>
              </a:tblPr>
              <a:tblGrid>
                <a:gridCol w="528600"/>
                <a:gridCol w="1873750"/>
                <a:gridCol w="4454675"/>
              </a:tblGrid>
              <a:tr h="236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/>
                        <a:t>ID</a:t>
                      </a:r>
                      <a:endParaRPr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/>
                        <a:t>Requisito</a:t>
                      </a:r>
                      <a:endParaRPr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/>
                        <a:t>Descripción</a:t>
                      </a:r>
                      <a:endParaRPr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  <a:tr h="430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/>
                        <a:t>RF-01</a:t>
                      </a:r>
                      <a:endParaRPr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/>
                        <a:t>Captura de documentos</a:t>
                      </a:r>
                      <a:endParaRPr b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50"/>
                        <a:t>La aplicación deberá permitir capturar imágenes de guías de despacho y facturas mediante la cámara del dispositivo móvil.</a:t>
                      </a:r>
                      <a:endParaRPr i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/>
                        <a:t>RF-02</a:t>
                      </a:r>
                      <a:endParaRPr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/>
                        <a:t>Carga de imágenes</a:t>
                      </a:r>
                      <a:endParaRPr b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50"/>
                        <a:t>La aplicación deberá permitir seleccionar y procesar imágenes de documentos almacenadas en el dispositivo.</a:t>
                      </a:r>
                      <a:endParaRPr i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/>
                        <a:t>RF-03</a:t>
                      </a:r>
                      <a:endParaRPr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/>
                        <a:t>Procesamiento de imágenes</a:t>
                      </a:r>
                      <a:endParaRPr b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50"/>
                        <a:t>El sistema deberá procesar y mejorar las imágenes antes de realizar el reconocimiento de texto.</a:t>
                      </a:r>
                      <a:endParaRPr i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/>
                        <a:t>RF-04</a:t>
                      </a:r>
                      <a:endParaRPr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/>
                        <a:t>Reconocimiento de texto</a:t>
                      </a:r>
                      <a:endParaRPr b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50"/>
                        <a:t>El sistema deberá identificar y extraer automáticamente el texto contenido en las imágenes mediante OCR.</a:t>
                      </a:r>
                      <a:endParaRPr i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/>
                        <a:t>RF-05</a:t>
                      </a:r>
                      <a:endParaRPr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/>
                        <a:t>Identificación de información</a:t>
                      </a:r>
                      <a:endParaRPr b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50"/>
                        <a:t>La aplicación deberá identificar los campos relevantes presentes en las guías de despacho y facturas.</a:t>
                      </a:r>
                      <a:endParaRPr i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/>
                        <a:t>RF-06</a:t>
                      </a:r>
                      <a:endParaRPr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/>
                        <a:t>Revisión de información</a:t>
                      </a:r>
                      <a:endParaRPr b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50"/>
                        <a:t>El usuario deberá poder revisar la información extraída y realizar correcciones cuando sea necesario.</a:t>
                      </a:r>
                      <a:endParaRPr i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/>
                        <a:t>RF-07</a:t>
                      </a:r>
                      <a:endParaRPr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/>
                        <a:t>Almacenamiento</a:t>
                      </a:r>
                      <a:endParaRPr b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50"/>
                        <a:t>El sistema deberá almacenar la información procesada en una base de datos local.</a:t>
                      </a:r>
                      <a:endParaRPr i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/>
                        <a:t>RF-08</a:t>
                      </a:r>
                      <a:endParaRPr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/>
                        <a:t>Consulta de información</a:t>
                      </a:r>
                      <a:endParaRPr b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50"/>
                        <a:t>La aplicación deberá permitir consultar los datos previamente procesados y almacenados.</a:t>
                      </a:r>
                      <a:endParaRPr i="1" sz="8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/>
                        <a:t>RF-09</a:t>
                      </a:r>
                      <a:endParaRPr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/>
                        <a:t>Generación de reportes</a:t>
                      </a:r>
                      <a:endParaRPr b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50"/>
                        <a:t>El sistema deberá generar archivos Excel utilizando la información procesada.</a:t>
                      </a:r>
                      <a:endParaRPr i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0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/>
                        <a:t>RF-10</a:t>
                      </a:r>
                      <a:endParaRPr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/>
                        <a:t>Gestión de documentos procesados</a:t>
                      </a:r>
                      <a:endParaRPr b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50"/>
                        <a:t>La aplicación deberá permitir mantener organizados los documentos y registros procesados para facilitar su posterior consulta.</a:t>
                      </a:r>
                      <a:endParaRPr i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4" name="Google Shape;154;p30"/>
          <p:cNvGraphicFramePr/>
          <p:nvPr/>
        </p:nvGraphicFramePr>
        <p:xfrm>
          <a:off x="833563" y="1730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{A8E4C1AC-C053-47EA-92F0-BB3EA72C6FA0}</a:tableStyleId>
              </a:tblPr>
              <a:tblGrid>
                <a:gridCol w="694500"/>
                <a:gridCol w="1766050"/>
                <a:gridCol w="5016325"/>
              </a:tblGrid>
              <a:tr h="213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/>
                        <a:t>ID</a:t>
                      </a:r>
                      <a:endParaRPr b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/>
                        <a:t>Requisito</a:t>
                      </a:r>
                      <a:endParaRPr b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/>
                        <a:t>Descripción</a:t>
                      </a:r>
                      <a:endParaRPr b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  <a:tr h="333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/>
                        <a:t>RNF-01</a:t>
                      </a:r>
                      <a:endParaRPr b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/>
                        <a:t>Usabilidad</a:t>
                      </a:r>
                      <a:endParaRPr b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/>
                        <a:t>La aplicación deberá contar con una interfaz sencilla e intuitiva que facilite su utilización por parte de trabajadores del rubro del transporte.</a:t>
                      </a:r>
                      <a:endParaRPr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/>
                        <a:t>RNF-02</a:t>
                      </a:r>
                      <a:endParaRPr b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/>
                        <a:t>Rendimiento</a:t>
                      </a:r>
                      <a:endParaRPr b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50"/>
                        <a:t>El procesamiento de los documentos deberá realizarse en un tiempo razonable, buscando reducir significativamente el tiempo asociado al ingreso manual de información.</a:t>
                      </a:r>
                      <a:endParaRPr i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/>
                        <a:t>RNF-03</a:t>
                      </a:r>
                      <a:endParaRPr b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/>
                        <a:t>Precisión</a:t>
                      </a:r>
                      <a:endParaRPr b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50"/>
                        <a:t>El sistema deberá buscar un nivel adecuado de precisión en la extracción de información, considerando las características y calidad de las imágenes utilizadas.</a:t>
                      </a:r>
                      <a:endParaRPr i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/>
                        <a:t>RNF-04</a:t>
                      </a:r>
                      <a:endParaRPr b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/>
                        <a:t>Compatibilidad</a:t>
                      </a:r>
                      <a:endParaRPr b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50"/>
                        <a:t>La aplicación deberá estar orientada inicialmente a dispositivos móviles con sistema operativo Android.</a:t>
                      </a:r>
                      <a:endParaRPr i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/>
                        <a:t>RNF-05</a:t>
                      </a:r>
                      <a:endParaRPr b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/>
                        <a:t>Funcionamiento local</a:t>
                      </a:r>
                      <a:endParaRPr b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50"/>
                        <a:t>La aplicación deberá utilizar almacenamiento local mediante SQLite para los datos procesados.</a:t>
                      </a:r>
                      <a:endParaRPr i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/>
                        <a:t>RNF-06</a:t>
                      </a:r>
                      <a:endParaRPr b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/>
                        <a:t>Mantenibilidad</a:t>
                      </a:r>
                      <a:endParaRPr b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50"/>
                        <a:t>El código deberá organizarse de manera modular, facilitando la corrección de errores y la incorporación de nuevas funcionalidades.</a:t>
                      </a:r>
                      <a:endParaRPr i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/>
                        <a:t>RNF-07</a:t>
                      </a:r>
                      <a:endParaRPr b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/>
                        <a:t>Escalabilidad</a:t>
                      </a:r>
                      <a:endParaRPr b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50"/>
                        <a:t>La estructura de la aplicación deberá permitir incorporar nuevas funcionalidades o tipos de documentos en futuras versiones.</a:t>
                      </a:r>
                      <a:endParaRPr i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/>
                        <a:t>RNF-08</a:t>
                      </a:r>
                      <a:endParaRPr b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/>
                        <a:t>Seguridad</a:t>
                      </a:r>
                      <a:endParaRPr b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50"/>
                        <a:t>La información procesada deberá almacenarse de manera local, evitando exponer innecesariamente los datos de los documentos procesados.</a:t>
                      </a:r>
                      <a:endParaRPr i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/>
                        <a:t>RNF-09</a:t>
                      </a:r>
                      <a:endParaRPr b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/>
                        <a:t>Disponibilidad de herramientas</a:t>
                      </a:r>
                      <a:endParaRPr b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50"/>
                        <a:t>El desarrollo deberá priorizar herramientas y tecnologías gratuitas o de libre disponibilidad para mantener la factibilidad del proyecto.</a:t>
                      </a:r>
                      <a:endParaRPr i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/>
                        <a:t>RNF-10</a:t>
                      </a:r>
                      <a:endParaRPr b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/>
                        <a:t>Validación</a:t>
                      </a:r>
                      <a:endParaRPr b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50"/>
                        <a:t>La aplicación deberá ser sometida a pruebas de funcionamiento, usabilidad, rendimiento y precisión antes de su entrega final.</a:t>
                      </a:r>
                      <a:endParaRPr i="1" sz="95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 Mono"/>
                <a:ea typeface="Roboto Mono"/>
                <a:cs typeface="Roboto Mono"/>
                <a:sym typeface="Roboto Mono"/>
              </a:rPr>
              <a:t>Esquema de las bases de datos</a:t>
            </a:r>
            <a:endParaRPr b="1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60" name="Google Shape;160;p3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latin typeface="Roboto Mono"/>
                <a:ea typeface="Roboto Mono"/>
                <a:cs typeface="Roboto Mono"/>
                <a:sym typeface="Roboto Mono"/>
              </a:rPr>
              <a:t>(Modelo Preliminar)</a:t>
            </a:r>
            <a:endParaRPr i="1" sz="20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  <p:transition spd="med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32" title="Untitled.png"/>
          <p:cNvPicPr preferRelativeResize="0"/>
          <p:nvPr/>
        </p:nvPicPr>
        <p:blipFill rotWithShape="1">
          <a:blip r:embed="rId3">
            <a:alphaModFix/>
          </a:blip>
          <a:srcRect b="6004" l="0" r="0" t="5178"/>
          <a:stretch/>
        </p:blipFill>
        <p:spPr>
          <a:xfrm>
            <a:off x="1109275" y="422901"/>
            <a:ext cx="1967250" cy="429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32" title="Untitled.png"/>
          <p:cNvPicPr preferRelativeResize="0"/>
          <p:nvPr/>
        </p:nvPicPr>
        <p:blipFill rotWithShape="1">
          <a:blip r:embed="rId3">
            <a:alphaModFix/>
          </a:blip>
          <a:srcRect b="62584" l="11741" r="30048" t="5346"/>
          <a:stretch/>
        </p:blipFill>
        <p:spPr>
          <a:xfrm>
            <a:off x="3304050" y="487475"/>
            <a:ext cx="1877325" cy="254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32" title="Untitled.png"/>
          <p:cNvPicPr preferRelativeResize="0"/>
          <p:nvPr/>
        </p:nvPicPr>
        <p:blipFill rotWithShape="1">
          <a:blip r:embed="rId3">
            <a:alphaModFix/>
          </a:blip>
          <a:srcRect b="6006" l="0" r="0" t="37011"/>
          <a:stretch/>
        </p:blipFill>
        <p:spPr>
          <a:xfrm>
            <a:off x="5408900" y="530300"/>
            <a:ext cx="2989655" cy="41902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8" name="Google Shape;168;p32"/>
          <p:cNvCxnSpPr/>
          <p:nvPr/>
        </p:nvCxnSpPr>
        <p:spPr>
          <a:xfrm>
            <a:off x="2580425" y="1195075"/>
            <a:ext cx="642300" cy="1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9" name="Google Shape;169;p32"/>
          <p:cNvCxnSpPr/>
          <p:nvPr/>
        </p:nvCxnSpPr>
        <p:spPr>
          <a:xfrm>
            <a:off x="2826575" y="3491300"/>
            <a:ext cx="2921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ransition spd="med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 Mono"/>
                <a:ea typeface="Roboto Mono"/>
                <a:cs typeface="Roboto Mono"/>
                <a:sym typeface="Roboto Mono"/>
              </a:rPr>
              <a:t>Mockups</a:t>
            </a:r>
            <a:endParaRPr b="1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75" name="Google Shape;175;p3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latin typeface="Roboto Mono"/>
                <a:ea typeface="Roboto Mono"/>
                <a:cs typeface="Roboto Mono"/>
                <a:sym typeface="Roboto Mono"/>
              </a:rPr>
              <a:t>(Preliminares)</a:t>
            </a:r>
            <a:endParaRPr i="1" sz="20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  <p:transition spd="med">
    <p:push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83838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34"/>
          <p:cNvPicPr preferRelativeResize="0"/>
          <p:nvPr/>
        </p:nvPicPr>
        <p:blipFill rotWithShape="1">
          <a:blip r:embed="rId3">
            <a:alphaModFix/>
          </a:blip>
          <a:srcRect b="0" l="0" r="0" t="6829"/>
          <a:stretch/>
        </p:blipFill>
        <p:spPr>
          <a:xfrm>
            <a:off x="430725" y="965612"/>
            <a:ext cx="1930275" cy="321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34"/>
          <p:cNvPicPr preferRelativeResize="0"/>
          <p:nvPr/>
        </p:nvPicPr>
        <p:blipFill rotWithShape="1">
          <a:blip r:embed="rId4">
            <a:alphaModFix/>
          </a:blip>
          <a:srcRect b="0" l="0" r="0" t="6829"/>
          <a:stretch/>
        </p:blipFill>
        <p:spPr>
          <a:xfrm>
            <a:off x="2548150" y="965612"/>
            <a:ext cx="1930275" cy="321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34"/>
          <p:cNvPicPr preferRelativeResize="0"/>
          <p:nvPr/>
        </p:nvPicPr>
        <p:blipFill rotWithShape="1">
          <a:blip r:embed="rId5">
            <a:alphaModFix/>
          </a:blip>
          <a:srcRect b="0" l="0" r="0" t="6829"/>
          <a:stretch/>
        </p:blipFill>
        <p:spPr>
          <a:xfrm>
            <a:off x="4665575" y="965612"/>
            <a:ext cx="1930275" cy="321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34"/>
          <p:cNvPicPr preferRelativeResize="0"/>
          <p:nvPr/>
        </p:nvPicPr>
        <p:blipFill rotWithShape="1">
          <a:blip r:embed="rId6">
            <a:alphaModFix/>
          </a:blip>
          <a:srcRect b="0" l="0" r="0" t="6829"/>
          <a:stretch/>
        </p:blipFill>
        <p:spPr>
          <a:xfrm>
            <a:off x="6783000" y="965612"/>
            <a:ext cx="1930275" cy="321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 Mono"/>
                <a:ea typeface="Roboto Mono"/>
                <a:cs typeface="Roboto Mono"/>
                <a:sym typeface="Roboto Mono"/>
              </a:rPr>
              <a:t>Determinación de evidencias</a:t>
            </a:r>
            <a:endParaRPr b="1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89" name="Google Shape;189;p3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latin typeface="Roboto Mono"/>
                <a:ea typeface="Roboto Mono"/>
                <a:cs typeface="Roboto Mono"/>
                <a:sym typeface="Roboto Mono"/>
              </a:rPr>
              <a:t>y su justificación</a:t>
            </a:r>
            <a:endParaRPr i="1" sz="20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  <p:transition spd="med">
    <p:push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" name="Google Shape;194;p36"/>
          <p:cNvGraphicFramePr/>
          <p:nvPr/>
        </p:nvGraphicFramePr>
        <p:xfrm>
          <a:off x="605550" y="476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{07E67ABB-AAE6-41AE-874E-789B6FB778EF}</a:tableStyleId>
              </a:tblPr>
              <a:tblGrid>
                <a:gridCol w="1401150"/>
                <a:gridCol w="1053525"/>
                <a:gridCol w="2064900"/>
                <a:gridCol w="3413325"/>
              </a:tblGrid>
              <a:tr h="4114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Tipo de evidencia</a:t>
                      </a:r>
                      <a:endParaRPr b="1" sz="900"/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(avance o final)</a:t>
                      </a:r>
                      <a:endParaRPr sz="900"/>
                    </a:p>
                  </a:txBody>
                  <a:tcPr marT="25400" marB="25400" marR="25400" marL="25400" anchor="ctr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Nombre de la evidencia</a:t>
                      </a:r>
                      <a:endParaRPr sz="900"/>
                    </a:p>
                  </a:txBody>
                  <a:tcPr marT="25400" marB="25400" marR="25400" marL="25400" anchor="ctr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Descripción</a:t>
                      </a:r>
                      <a:endParaRPr sz="900"/>
                    </a:p>
                  </a:txBody>
                  <a:tcPr marT="25400" marB="25400" marR="25400" marL="25400" anchor="ctr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Justificación</a:t>
                      </a:r>
                      <a:endParaRPr sz="900"/>
                    </a:p>
                  </a:txBody>
                  <a:tcPr marT="25400" marB="25400" marR="25400" marL="25400" anchor="ctr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122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Prototipo Básico,Documentación Inicial</a:t>
                      </a:r>
                      <a:endParaRPr sz="900"/>
                    </a:p>
                  </a:txBody>
                  <a:tcPr marT="25400" marB="25400" marR="25400" marL="25400" anchor="ctr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Prototipo 1</a:t>
                      </a:r>
                      <a:endParaRPr sz="900"/>
                    </a:p>
                  </a:txBody>
                  <a:tcPr marT="25400" marB="25400" marR="25400" marL="25400" anchor="ctr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00"/>
                        <a:t>Solo un prototipo funcional con los aspectos más importantes de la idea que corre en código puro sin interfaz propia como tal.</a:t>
                      </a:r>
                      <a:endParaRPr sz="900"/>
                    </a:p>
                  </a:txBody>
                  <a:tcPr marT="25400" marB="25400" marR="25400" marL="25400" anchor="ctr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Permite validar tempranamente la viabilidad técnica del algoritmo de lectura y extracción de texto de las guías/facturas en código, asegurando que el núcleo del procesamiento funciona antes de invertir tiempo en la interfaz gráfica.</a:t>
                      </a:r>
                      <a:endParaRPr sz="900"/>
                    </a:p>
                  </a:txBody>
                  <a:tcPr marT="25400" marB="25400" marR="25400" marL="25400" anchor="ctr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44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Prototipo Avanzado</a:t>
                      </a:r>
                      <a:endParaRPr sz="900"/>
                    </a:p>
                  </a:txBody>
                  <a:tcPr marT="25400" marB="25400" marR="25400" marL="25400" anchor="ctr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Prototipo 2</a:t>
                      </a:r>
                      <a:endParaRPr sz="900"/>
                    </a:p>
                  </a:txBody>
                  <a:tcPr marT="25400" marB="25400" marR="25400" marL="25400" anchor="ctr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00"/>
                        <a:t>Prototipo funcional con la gran mayoría de las funciones de la idea que corre en código puro sin interfaz propia como tal.</a:t>
                      </a:r>
                      <a:endParaRPr sz="900"/>
                    </a:p>
                  </a:txBody>
                  <a:tcPr marT="25400" marB="25400" marR="25400" marL="25400" anchor="ctr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Permite verificar la correcta integración lógica de los módulos de almacenamiento en base de datos y la exportación de reportes a Excel, consolidando la arquitectura interna del sistema.</a:t>
                      </a:r>
                      <a:endParaRPr sz="900"/>
                    </a:p>
                  </a:txBody>
                  <a:tcPr marT="25400" marB="25400" marR="25400" marL="25400" anchor="ctr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67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Versión Preliminar, Documentación final pre-revisión</a:t>
                      </a:r>
                      <a:endParaRPr sz="900"/>
                    </a:p>
                  </a:txBody>
                  <a:tcPr marT="25400" marB="25400" marR="25400" marL="25400" anchor="ctr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App_beta</a:t>
                      </a:r>
                      <a:endParaRPr sz="900"/>
                    </a:p>
                  </a:txBody>
                  <a:tcPr marT="25400" marB="25400" marR="25400" marL="25400" anchor="ctr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00"/>
                        <a:t>La aplicación con todas sus funciones y una interfaz, pero en fase de testeo.</a:t>
                      </a:r>
                      <a:endParaRPr sz="900"/>
                    </a:p>
                  </a:txBody>
                  <a:tcPr marT="25400" marB="25400" marR="25400" marL="25400" anchor="ctr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Facilita la realización de pruebas de usabilidad, rendimiento y precisión con usuarios finales o datos reales, permitiendo identificar errores visuales o de flujo antes de la entrega definitiva.</a:t>
                      </a:r>
                      <a:endParaRPr sz="900"/>
                    </a:p>
                  </a:txBody>
                  <a:tcPr marT="25400" marB="25400" marR="25400" marL="25400" anchor="ctr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44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APP Final</a:t>
                      </a:r>
                      <a:endParaRPr sz="900"/>
                    </a:p>
                  </a:txBody>
                  <a:tcPr marT="25400" marB="25400" marR="25400" marL="25400" anchor="ctr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App_1.0</a:t>
                      </a:r>
                      <a:endParaRPr sz="900"/>
                    </a:p>
                  </a:txBody>
                  <a:tcPr marT="25400" marB="25400" marR="25400" marL="25400" anchor="ctr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00"/>
                        <a:t>La aplicación completa</a:t>
                      </a:r>
                      <a:endParaRPr sz="900"/>
                    </a:p>
                  </a:txBody>
                  <a:tcPr marT="25400" marB="25400" marR="25400" marL="25400" anchor="ctr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Representa el producto final terminado, probado y documentado que cumple con la totalidad de los objetivos generales y específicos planteados para solucionar la problemática de procesamiento de documentos.</a:t>
                      </a:r>
                      <a:endParaRPr sz="900"/>
                    </a:p>
                  </a:txBody>
                  <a:tcPr marT="25400" marB="25400" marR="25400" marL="25400" anchor="ctr">
                    <a:lnL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